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86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343438"/>
          </a:solidFill>
          <a:ln w="12700">
            <a:solidFill>
              <a:srgbClr val="343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3152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Reduced-Round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Cipher Behavior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E9B95"/>
                </a:solidFill>
              </a:rPr>
              <a:t>Ansh Gaur  ·  Kavya Karthik  ·  Pratyush Gangwar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855"/>
                </a:solidFill>
              </a:rPr>
              <a:t>IIIT Delhi  ·  Applied Cryptography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0"/>
            <a:ext cx="18418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60322" y="4572000"/>
            <a:ext cx="18483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1189" y="4572000"/>
            <a:ext cx="1835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4572000"/>
            <a:ext cx="18418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solidFill>
            <a:srgbClr val="343438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F0EB"/>
                </a:solidFill>
              </a:rPr>
              <a:t>Can an ML model predict </a:t>
            </a:r>
            <a:r>
              <a:rPr lang="en-US" sz="1500" b="1" dirty="0">
                <a:solidFill>
                  <a:srgbClr val="F5A623"/>
                </a:solidFill>
              </a:rPr>
              <a:t>ciphertext from plaintext</a:t>
            </a:r>
            <a:r>
              <a:rPr lang="en-US" sz="1500" dirty="0">
                <a:solidFill>
                  <a:srgbClr val="F2F0EB"/>
                </a:solidFill>
              </a:rPr>
              <a:t> for a </a:t>
            </a:r>
            <a:r>
              <a:rPr lang="en-US" sz="1500" b="1" dirty="0">
                <a:solidFill>
                  <a:srgbClr val="E07060"/>
                </a:solidFill>
              </a:rPr>
              <a:t>reduced-round block cipher</a:t>
            </a:r>
            <a:r>
              <a:rPr lang="en-US" sz="1500" dirty="0">
                <a:solidFill>
                  <a:srgbClr val="F2F0EB"/>
                </a:solidFill>
              </a:rPr>
              <a:t> — and at which round does learnability collapse?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749040" cy="306324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64208"/>
            <a:ext cx="54864" cy="3063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Black-Box Oracle Setup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148840"/>
            <a:ext cx="2743200" cy="438912"/>
          </a:xfrm>
          <a:prstGeom prst="rect">
            <a:avLst/>
          </a:prstGeom>
          <a:solidFill>
            <a:srgbClr val="343438"/>
          </a:solidFill>
          <a:ln w="6350">
            <a:solidFill>
              <a:srgbClr val="5A5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48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0EB"/>
                </a:solidFill>
              </a:rPr>
              <a:t>Plaintext  P  ∈ {0,1}ⁿ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2587752"/>
            <a:ext cx="0" cy="274320"/>
          </a:xfrm>
          <a:prstGeom prst="line">
            <a:avLst/>
          </a:prstGeom>
          <a:noFill/>
          <a:ln w="12700">
            <a:solidFill>
              <a:srgbClr val="9E9B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862072"/>
            <a:ext cx="2743200" cy="438912"/>
          </a:xfrm>
          <a:prstGeom prst="rect">
            <a:avLst/>
          </a:prstGeom>
          <a:solidFill>
            <a:srgbClr val="5A5855"/>
          </a:solidFill>
          <a:ln w="6350">
            <a:solidFill>
              <a:srgbClr val="5A5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8620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</a:rPr>
              <a:t>Round Function  ×  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31720" y="3300984"/>
            <a:ext cx="0" cy="274320"/>
          </a:xfrm>
          <a:prstGeom prst="line">
            <a:avLst/>
          </a:prstGeom>
          <a:noFill/>
          <a:ln w="12700">
            <a:solidFill>
              <a:srgbClr val="9E9B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575304"/>
            <a:ext cx="2743200" cy="438912"/>
          </a:xfrm>
          <a:prstGeom prst="rect">
            <a:avLst/>
          </a:prstGeom>
          <a:solidFill>
            <a:srgbClr val="343438"/>
          </a:solidFill>
          <a:ln w="6350">
            <a:solidFill>
              <a:srgbClr val="5A5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753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0EB"/>
                </a:solidFill>
              </a:rPr>
              <a:t>Ciphertext  C  ∈ {0,1}ⁿ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407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855"/>
                </a:solidFill>
              </a:rPr>
              <a:t>Fixed secret key k  ·  Seed 42  ·  80/20 split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1664208"/>
            <a:ext cx="4206240" cy="306324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664208"/>
            <a:ext cx="54864" cy="3063240"/>
          </a:xfrm>
          <a:prstGeom prst="rect">
            <a:avLst/>
          </a:prstGeom>
          <a:solidFill>
            <a:srgbClr val="7EB89A"/>
          </a:solidFill>
          <a:ln w="12700">
            <a:solidFill>
              <a:srgbClr val="7EB8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B89A"/>
                </a:solidFill>
              </a:rPr>
              <a:t>Evaluation Metrics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167128"/>
            <a:ext cx="3840480" cy="658368"/>
          </a:xfrm>
          <a:prstGeom prst="rect">
            <a:avLst/>
          </a:prstGeom>
          <a:solidFill>
            <a:srgbClr val="343438"/>
          </a:solidFill>
          <a:ln w="12700">
            <a:solidFill>
              <a:srgbClr val="3434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67128"/>
            <a:ext cx="4572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2219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Bitwise Accuracy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2468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Fraction of correct bits predicted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Random baseline = 50%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3840480" cy="658368"/>
          </a:xfrm>
          <a:prstGeom prst="rect">
            <a:avLst/>
          </a:prstGeom>
          <a:solidFill>
            <a:srgbClr val="343438"/>
          </a:solidFill>
          <a:ln w="12700">
            <a:solidFill>
              <a:srgbClr val="3434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971800"/>
            <a:ext cx="45720" cy="658368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02666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60"/>
                </a:solidFill>
              </a:rPr>
              <a:t>Hamming Distance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2735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Average bit errors per sample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Random baseline = n/2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76472"/>
            <a:ext cx="3840480" cy="658368"/>
          </a:xfrm>
          <a:prstGeom prst="rect">
            <a:avLst/>
          </a:prstGeom>
          <a:solidFill>
            <a:srgbClr val="343438"/>
          </a:solidFill>
          <a:ln w="12700">
            <a:solidFill>
              <a:srgbClr val="3434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76472"/>
            <a:ext cx="45720" cy="658368"/>
          </a:xfrm>
          <a:prstGeom prst="rect">
            <a:avLst/>
          </a:prstGeom>
          <a:solidFill>
            <a:srgbClr val="7EB89A"/>
          </a:solidFill>
          <a:ln w="12700">
            <a:solidFill>
              <a:srgbClr val="7EB8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8313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EB89A"/>
                </a:solidFill>
              </a:rPr>
              <a:t>Block Accuracy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40782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Whether the entire block is predicted correctly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A623"/>
                </a:solidFill>
              </a:rPr>
              <a:t>Goal: maximize r while keeping accuracy &gt; 50%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Target Ciphers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SIMON-32/64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Feistel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+ ROT + 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SPECK-32/64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ModAdd + ROT + 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PRESENT-64/80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S-box + Bit Permutation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GIFT-64/128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S-box + Bit-sliced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ML Models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364992"/>
            <a:ext cx="1700784" cy="150876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364992"/>
            <a:ext cx="1700784" cy="320040"/>
          </a:xfrm>
          <a:prstGeom prst="rect">
            <a:avLst/>
          </a:prstGeom>
          <a:solidFill>
            <a:srgbClr val="343438"/>
          </a:solidFill>
          <a:ln w="12700">
            <a:solidFill>
              <a:srgbClr val="3434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649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9B95"/>
                </a:solidFill>
              </a:rPr>
              <a:t>Linear Regression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3749040"/>
            <a:ext cx="1530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B95"/>
                </a:solidFill>
              </a:rPr>
              <a:t>Captures only affine structure (XOR / permutations). One binary classifier per output bit. Useful as a baseline.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33472" y="3364992"/>
            <a:ext cx="1700784" cy="150876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3472" y="3364992"/>
            <a:ext cx="1700784" cy="320040"/>
          </a:xfrm>
          <a:prstGeom prst="rect">
            <a:avLst/>
          </a:prstGeom>
          <a:solidFill>
            <a:srgbClr val="7EB89A"/>
          </a:solidFill>
          <a:ln w="12700">
            <a:solidFill>
              <a:srgbClr val="7EB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3472" y="33649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E"/>
                </a:solidFill>
              </a:rPr>
              <a:t>MLP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3749040"/>
            <a:ext cx="1530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B95"/>
                </a:solidFill>
              </a:rPr>
              <a:t>FC layers (512 → 512 → 256), BatchNorm, ReLU, 10% dropout. Global view of all input bits simultaneously.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09744" y="3364992"/>
            <a:ext cx="1700784" cy="150876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9744" y="3364992"/>
            <a:ext cx="1700784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9744" y="33649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E"/>
                </a:solidFill>
              </a:rPr>
              <a:t>CNN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19472" y="3749040"/>
            <a:ext cx="1530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B95"/>
                </a:solidFill>
              </a:rPr>
              <a:t>1D conv blocks (64, 128, 256 ch, kernel 3) + two dense layers. Inductive bias aligns with nibble-level S-boxes.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86016" y="3364992"/>
            <a:ext cx="1700784" cy="150876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86016" y="3364992"/>
            <a:ext cx="1700784" cy="320040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86016" y="336499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E"/>
                </a:solidFill>
              </a:rPr>
              <a:t>MINE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95744" y="3749040"/>
            <a:ext cx="1530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E9B95"/>
                </a:solidFill>
              </a:rPr>
              <a:t>Mutual Information Neural Estimator. Shared encoder + autoregressive decoder. Information-theoretic lens on leakage.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Overview — Maximum Learnable Rounds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6608"/>
              </p:ext>
            </p:extLst>
          </p:nvPr>
        </p:nvGraphicFramePr>
        <p:xfrm>
          <a:off x="862147" y="3530889"/>
          <a:ext cx="7615648" cy="1257300"/>
        </p:xfrm>
        <a:graphic>
          <a:graphicData uri="http://schemas.openxmlformats.org/drawingml/2006/table">
            <a:tbl>
              <a:tblPr/>
              <a:tblGrid>
                <a:gridCol w="1776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5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6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1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Lin.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0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SIMON-32/64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EB8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(MLP)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SPECK-32/64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PRESENT-64/80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(CNN)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0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2F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GIFT-64/128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E9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07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(CNN)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62147" y="4898699"/>
            <a:ext cx="7615647" cy="175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855"/>
                </a:solidFill>
              </a:rPr>
              <a:t>★  CNN on PRESENT: 98.8% bitwise accuracy at r = 3  ·  *Lin. Reg. on GIFT: only 59.3% at r =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677809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4189" y="728393"/>
            <a:ext cx="4955621" cy="2604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Cipher Deep Dive — SIMON-32/64 &amp; SPECK-32/64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4864" cy="4251960"/>
          </a:xfrm>
          <a:prstGeom prst="rect">
            <a:avLst/>
          </a:prstGeom>
          <a:solidFill>
            <a:srgbClr val="7EB89A"/>
          </a:solidFill>
          <a:ln w="12700">
            <a:solidFill>
              <a:srgbClr val="7EB8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SIMON-32/64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Feistel  ·  AND + ROT + XOR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416052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2461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B95"/>
                </a:solidFill>
              </a:rPr>
              <a:t>Hamming Distance: r=1 (learned) vs r=4 (random)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56432"/>
            <a:ext cx="2011680" cy="118872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456432"/>
            <a:ext cx="2011680" cy="11887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54880" y="640080"/>
            <a:ext cx="0" cy="4251960"/>
          </a:xfrm>
          <a:prstGeom prst="line">
            <a:avLst/>
          </a:prstGeom>
          <a:noFill/>
          <a:ln w="9525">
            <a:solidFill>
              <a:srgbClr val="343438"/>
            </a:solidFill>
            <a:prstDash val="dash"/>
          </a:ln>
        </p:spPr>
      </p:sp>
      <p:sp>
        <p:nvSpPr>
          <p:cNvPr id="13" name="Shape 8"/>
          <p:cNvSpPr/>
          <p:nvPr/>
        </p:nvSpPr>
        <p:spPr>
          <a:xfrm>
            <a:off x="4892040" y="640080"/>
            <a:ext cx="54864" cy="4251960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74920" y="658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SPECK-32/64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74920" y="9692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7060"/>
                </a:solidFill>
              </a:rPr>
              <a:t>ARX  ·  ModAdd + ROT + XOR  ←  Most Robust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261872"/>
            <a:ext cx="3794760" cy="1920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32461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B95"/>
                </a:solidFill>
              </a:rPr>
              <a:t>Hamming Distance: r=1 (partial) vs r=3 (fully random)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456432"/>
            <a:ext cx="1828800" cy="118872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456432"/>
            <a:ext cx="18288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Cipher Deep Dive — PRESENT-64/80 &amp; GIFT-64/128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4864" cy="4251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PRESENT-64/80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</a:rPr>
              <a:t>SPN  ·  4-bit S-box + Bit Permutation  ←  Most Learnable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416052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2461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B95"/>
                </a:solidFill>
              </a:rPr>
              <a:t>CNN Hamming: r=1 (perfect prediction) vs r=6 (fully random)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56432"/>
            <a:ext cx="2011680" cy="118872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456432"/>
            <a:ext cx="2011680" cy="11887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54880" y="640080"/>
            <a:ext cx="0" cy="4251960"/>
          </a:xfrm>
          <a:prstGeom prst="line">
            <a:avLst/>
          </a:prstGeom>
          <a:noFill/>
          <a:ln w="9525">
            <a:solidFill>
              <a:srgbClr val="343438"/>
            </a:solidFill>
            <a:prstDash val="dash"/>
          </a:ln>
        </p:spPr>
      </p:sp>
      <p:sp>
        <p:nvSpPr>
          <p:cNvPr id="13" name="Shape 8"/>
          <p:cNvSpPr/>
          <p:nvPr/>
        </p:nvSpPr>
        <p:spPr>
          <a:xfrm>
            <a:off x="4892040" y="640080"/>
            <a:ext cx="54864" cy="4251960"/>
          </a:xfrm>
          <a:prstGeom prst="rect">
            <a:avLst/>
          </a:prstGeom>
          <a:solidFill>
            <a:srgbClr val="7EB89A"/>
          </a:solidFill>
          <a:ln w="12700">
            <a:solidFill>
              <a:srgbClr val="7EB8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74920" y="658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GIFT-64/128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74920" y="9692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A"/>
                </a:solidFill>
              </a:rPr>
              <a:t>SPN  ·  Same S-box as PRESENT + Bit-sliced Layer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261872"/>
            <a:ext cx="3794760" cy="1920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32461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E9B95"/>
                </a:solidFill>
              </a:rPr>
              <a:t>CNN Hamming: r=1 (almost perfect) vs r=4 (fully random)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456432"/>
            <a:ext cx="1828800" cy="118872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456432"/>
            <a:ext cx="18288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Key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Learnability Order  (easiest → hardest to crack)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938528" cy="1051560"/>
          </a:xfrm>
          <a:prstGeom prst="rect">
            <a:avLst/>
          </a:prstGeom>
          <a:solidFill>
            <a:srgbClr val="2A2A2D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PRESENT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Simple bit-shuffle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Slow diffusion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1508760"/>
            <a:ext cx="237744" cy="0"/>
          </a:xfrm>
          <a:prstGeom prst="line">
            <a:avLst/>
          </a:prstGeom>
          <a:noFill/>
          <a:ln w="15240">
            <a:solidFill>
              <a:srgbClr val="5A58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987552"/>
            <a:ext cx="1938528" cy="1051560"/>
          </a:xfrm>
          <a:prstGeom prst="rect">
            <a:avLst/>
          </a:prstGeom>
          <a:solidFill>
            <a:srgbClr val="2A2A2D"/>
          </a:solidFill>
          <a:ln w="19050">
            <a:solidFill>
              <a:srgbClr val="7EB8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0058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EB89A"/>
                </a:solidFill>
              </a:rPr>
              <a:t>SIMON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912" y="1371600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AND-based Feistel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Moderate diffusion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237744" cy="0"/>
          </a:xfrm>
          <a:prstGeom prst="line">
            <a:avLst/>
          </a:prstGeom>
          <a:noFill/>
          <a:ln w="15240">
            <a:solidFill>
              <a:srgbClr val="5A58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987552"/>
            <a:ext cx="1938528" cy="1051560"/>
          </a:xfrm>
          <a:prstGeom prst="rect">
            <a:avLst/>
          </a:prstGeom>
          <a:solidFill>
            <a:srgbClr val="2A2A2D"/>
          </a:solidFill>
          <a:ln w="19050">
            <a:solidFill>
              <a:srgbClr val="9E9B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0058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9B95"/>
                </a:solidFill>
              </a:rPr>
              <a:t>GIFT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1184" y="1371600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Bit-sliced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Faster diffusion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48272" y="1508760"/>
            <a:ext cx="237744" cy="0"/>
          </a:xfrm>
          <a:prstGeom prst="line">
            <a:avLst/>
          </a:prstGeom>
          <a:noFill/>
          <a:ln w="15240">
            <a:solidFill>
              <a:srgbClr val="5A58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86016" y="987552"/>
            <a:ext cx="1938528" cy="1051560"/>
          </a:xfrm>
          <a:prstGeom prst="rect">
            <a:avLst/>
          </a:prstGeom>
          <a:solidFill>
            <a:srgbClr val="2A2A2D"/>
          </a:solidFill>
          <a:ln w="19050">
            <a:solidFill>
              <a:srgbClr val="E07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10058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060"/>
                </a:solidFill>
              </a:rPr>
              <a:t>SPECK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77456" y="1371600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Modular addition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E9B95"/>
                </a:solidFill>
              </a:rPr>
              <a:t>Instant non-linearity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0848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</a:rPr>
              <a:t>← easier to learn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05472" y="20848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7060"/>
                </a:solidFill>
              </a:rPr>
              <a:t>harder to learn →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423160"/>
            <a:ext cx="8485632" cy="804672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423160"/>
            <a:ext cx="54864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496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CNN dominates — 3 of 4 ciphers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27706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CNN's 1D conv inductive bias perfectly matches nibble-level S-boxes and ARX carry propagation. The lone exception is SIMON, where MLP's global bit-view wins by 1 round — SIMON's Feistel structure affects all bit positions simultaneously.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19272"/>
            <a:ext cx="8485632" cy="804672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19272"/>
            <a:ext cx="54864" cy="804672"/>
          </a:xfrm>
          <a:prstGeom prst="rect">
            <a:avLst/>
          </a:prstGeom>
          <a:solidFill>
            <a:srgbClr val="E07060"/>
          </a:solidFill>
          <a:ln w="12700">
            <a:solidFill>
              <a:srgbClr val="E07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3924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60"/>
                </a:solidFill>
              </a:rPr>
              <a:t>MINE validates the information-theoretic limit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3666744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MINE tracks mutual information I(P;C) directly. Prediction accuracy collapses precisely when MINE measures zero mutual information — confirming the drop is due to true cryptographic pseudorandomness, not model weakness.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215384"/>
            <a:ext cx="8485632" cy="804672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15384"/>
            <a:ext cx="54864" cy="804672"/>
          </a:xfrm>
          <a:prstGeom prst="rect">
            <a:avLst/>
          </a:prstGeom>
          <a:solidFill>
            <a:srgbClr val="7EB89A"/>
          </a:solidFill>
          <a:ln w="12700">
            <a:solidFill>
              <a:srgbClr val="7EB8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2885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89A"/>
                </a:solidFill>
              </a:rPr>
              <a:t>Full-round ciphers are secure against ML attacks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" y="4562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B95"/>
                </a:solidFill>
              </a:rPr>
              <a:t>All four ciphers converge to Binomial(n, 0.5) Hamming distributions well before their full round count. Outputs become indistinguishable from random, confirming that modern lightweight ciphers resist this class of ML-based cryptanalysis.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920240" cy="100584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</a:rPr>
              <a:t>PRESENT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Most Learnable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3 rounds (CNN)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987552"/>
            <a:ext cx="1920240" cy="100584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987552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060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</a:rPr>
              <a:t>SPECK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1554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Most Robust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1 round max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987552"/>
            <a:ext cx="1920240" cy="100584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987552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60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</a:rPr>
              <a:t>98.8%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26864" y="1554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Peak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PRESENT r=3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11696" y="987552"/>
            <a:ext cx="1920240" cy="1005840"/>
          </a:xfrm>
          <a:prstGeom prst="rect">
            <a:avLst/>
          </a:prstGeom>
          <a:solidFill>
            <a:srgbClr val="2A2A2D"/>
          </a:solidFill>
          <a:ln w="6350">
            <a:solidFill>
              <a:srgbClr val="3434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1696" y="987552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0607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</a:rPr>
              <a:t>CNN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11696" y="1554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Best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E9B95"/>
                </a:solidFill>
              </a:rPr>
              <a:t>3 of 4 ciphers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8229600" cy="2286000"/>
          </a:xfrm>
          <a:prstGeom prst="rect">
            <a:avLst/>
          </a:prstGeom>
          <a:solidFill>
            <a:srgbClr val="343438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8229600" cy="228600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2F0EB"/>
                </a:solidFill>
              </a:rPr>
              <a:t>ML models can learn reduced-round cipher behavior with high accuracy,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2F0EB"/>
                </a:solidFill>
              </a:rPr>
              <a:t>but full-round outputs are 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5A623"/>
                </a:solidFill>
              </a:rPr>
              <a:t>indistinguishable from random</a:t>
            </a:r>
            <a:r>
              <a:rPr lang="en-US" sz="1450" dirty="0">
                <a:solidFill>
                  <a:srgbClr val="F2F0EB"/>
                </a:solidFill>
              </a:rPr>
              <a:t> —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2F0EB"/>
                </a:solidFill>
              </a:rPr>
              <a:t>confirming modern lightweight ciphers are secure against ML-based attacks.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74320" y="48188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855"/>
                </a:solidFill>
              </a:rPr>
              <a:t>Ansh Gaur  ·  Kavya Karthik  ·  Pratyush Gangwar  |  IIIT Delhi  |  Applied Cryptography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717</Words>
  <Application>Microsoft Office PowerPoint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Pratyush Gangwar</cp:lastModifiedBy>
  <cp:revision>2</cp:revision>
  <dcterms:created xsi:type="dcterms:W3CDTF">2026-04-09T10:28:09Z</dcterms:created>
  <dcterms:modified xsi:type="dcterms:W3CDTF">2026-04-09T14:47:15Z</dcterms:modified>
</cp:coreProperties>
</file>